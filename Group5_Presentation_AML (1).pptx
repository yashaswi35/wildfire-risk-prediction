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0"/>
  </p:notesMasterIdLst>
  <p:sldIdLst>
    <p:sldId id="256" r:id="rId2"/>
    <p:sldId id="301" r:id="rId3"/>
    <p:sldId id="257" r:id="rId4"/>
    <p:sldId id="302" r:id="rId5"/>
    <p:sldId id="303" r:id="rId6"/>
    <p:sldId id="305" r:id="rId7"/>
    <p:sldId id="304" r:id="rId8"/>
    <p:sldId id="306" r:id="rId9"/>
  </p:sldIdLst>
  <p:sldSz cx="9144000" cy="5143500" type="screen16x9"/>
  <p:notesSz cx="6858000" cy="9144000"/>
  <p:embeddedFontLst>
    <p:embeddedFont>
      <p:font typeface="Archivo" pitchFamily="2" charset="77"/>
      <p:regular r:id="rId11"/>
      <p:bold r:id="rId12"/>
      <p:italic r:id="rId13"/>
      <p:boldItalic r:id="rId14"/>
    </p:embeddedFont>
    <p:embeddedFont>
      <p:font typeface="Open Sans" panose="020B0606030504020204" pitchFamily="34" charset="0"/>
      <p:regular r:id="rId15"/>
      <p:bold r:id="rId16"/>
      <p:italic r:id="rId17"/>
      <p:boldItalic r:id="rId18"/>
    </p:embeddedFont>
    <p:embeddedFont>
      <p:font typeface="Raleway" pitchFamily="2" charset="77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E7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89255E-2ACE-419B-871D-2CE447EFE5EC}">
  <a:tblStyle styleId="{0F89255E-2ACE-419B-871D-2CE447EFE5E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7FDD69E-0DF0-4635-805B-CE807135C4B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76"/>
  </p:normalViewPr>
  <p:slideViewPr>
    <p:cSldViewPr snapToGrid="0">
      <p:cViewPr varScale="1">
        <p:scale>
          <a:sx n="152" d="100"/>
          <a:sy n="152" d="100"/>
        </p:scale>
        <p:origin x="720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7a62897eb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7a62897eb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78dfac31ac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78dfac31ac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658650" y="75"/>
            <a:ext cx="3485400" cy="422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0" y="906650"/>
            <a:ext cx="7084800" cy="2066700"/>
          </a:xfrm>
          <a:prstGeom prst="rect">
            <a:avLst/>
          </a:prstGeom>
          <a:solidFill>
            <a:srgbClr val="D6CCC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3495675"/>
            <a:ext cx="2721300" cy="73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7319600" y="-150"/>
            <a:ext cx="1824300" cy="35199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7088800" y="539500"/>
            <a:ext cx="2055300" cy="460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2217300" y="1838150"/>
            <a:ext cx="6926700" cy="14673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473500" y="1189100"/>
            <a:ext cx="6670500" cy="1964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473500" y="3153500"/>
            <a:ext cx="36756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/>
          <p:nvPr/>
        </p:nvSpPr>
        <p:spPr>
          <a:xfrm>
            <a:off x="0" y="100"/>
            <a:ext cx="2055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6951825" y="-150"/>
            <a:ext cx="2192100" cy="51435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468682"/>
            <a:ext cx="734700" cy="34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1454700" y="1468672"/>
            <a:ext cx="30351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2026804"/>
            <a:ext cx="734700" cy="34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4"/>
          </p:nvPr>
        </p:nvSpPr>
        <p:spPr>
          <a:xfrm>
            <a:off x="1454700" y="2026797"/>
            <a:ext cx="30351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5" hasCustomPrompt="1"/>
          </p:nvPr>
        </p:nvSpPr>
        <p:spPr>
          <a:xfrm>
            <a:off x="720000" y="2584927"/>
            <a:ext cx="734700" cy="34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6"/>
          </p:nvPr>
        </p:nvSpPr>
        <p:spPr>
          <a:xfrm>
            <a:off x="1454700" y="2584922"/>
            <a:ext cx="30351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7" hasCustomPrompt="1"/>
          </p:nvPr>
        </p:nvSpPr>
        <p:spPr>
          <a:xfrm>
            <a:off x="720000" y="3143052"/>
            <a:ext cx="734700" cy="34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8"/>
          </p:nvPr>
        </p:nvSpPr>
        <p:spPr>
          <a:xfrm>
            <a:off x="1454700" y="3143047"/>
            <a:ext cx="30351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9" hasCustomPrompt="1"/>
          </p:nvPr>
        </p:nvSpPr>
        <p:spPr>
          <a:xfrm>
            <a:off x="720000" y="3701177"/>
            <a:ext cx="734700" cy="34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3"/>
          </p:nvPr>
        </p:nvSpPr>
        <p:spPr>
          <a:xfrm>
            <a:off x="1454700" y="3701172"/>
            <a:ext cx="30351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14" hasCustomPrompt="1"/>
          </p:nvPr>
        </p:nvSpPr>
        <p:spPr>
          <a:xfrm>
            <a:off x="720000" y="4259302"/>
            <a:ext cx="734700" cy="34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5"/>
          </p:nvPr>
        </p:nvSpPr>
        <p:spPr>
          <a:xfrm>
            <a:off x="1454700" y="4259297"/>
            <a:ext cx="30351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/>
          <p:nvPr/>
        </p:nvSpPr>
        <p:spPr>
          <a:xfrm>
            <a:off x="0" y="75"/>
            <a:ext cx="5003100" cy="460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/>
          <p:nvPr/>
        </p:nvSpPr>
        <p:spPr>
          <a:xfrm>
            <a:off x="0" y="915000"/>
            <a:ext cx="3485400" cy="422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4" r:id="rId3"/>
    <p:sldLayoutId id="2147483655" r:id="rId4"/>
    <p:sldLayoutId id="2147483656" r:id="rId5"/>
    <p:sldLayoutId id="2147483658" r:id="rId6"/>
    <p:sldLayoutId id="2147483659" r:id="rId7"/>
    <p:sldLayoutId id="2147483660" r:id="rId8"/>
    <p:sldLayoutId id="2147483669" r:id="rId9"/>
    <p:sldLayoutId id="214748367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>
            <a:spLocks noGrp="1"/>
          </p:cNvSpPr>
          <p:nvPr>
            <p:ph type="ctrTitle"/>
          </p:nvPr>
        </p:nvSpPr>
        <p:spPr>
          <a:xfrm>
            <a:off x="0" y="906650"/>
            <a:ext cx="7084800" cy="2066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82295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Group 5:</a:t>
            </a:r>
            <a:br>
              <a:rPr lang="en-US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Predictive Modeling for Wildfire Risk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4" name="Google Shape;144;p28"/>
          <p:cNvSpPr txBox="1">
            <a:spLocks noGrp="1"/>
          </p:cNvSpPr>
          <p:nvPr>
            <p:ph type="subTitle" idx="1"/>
          </p:nvPr>
        </p:nvSpPr>
        <p:spPr>
          <a:xfrm>
            <a:off x="6422700" y="4303551"/>
            <a:ext cx="2721300" cy="7812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050" dirty="0">
                <a:latin typeface="Calibri" panose="020F0502020204030204" pitchFamily="34" charset="0"/>
                <a:cs typeface="Calibri" panose="020F0502020204030204" pitchFamily="34" charset="0"/>
              </a:rPr>
              <a:t>Esha Pandey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050" dirty="0" err="1">
                <a:latin typeface="Calibri" panose="020F0502020204030204" pitchFamily="34" charset="0"/>
                <a:cs typeface="Calibri" panose="020F0502020204030204" pitchFamily="34" charset="0"/>
              </a:rPr>
              <a:t>Hitarth</a:t>
            </a:r>
            <a:r>
              <a:rPr lang="en" sz="1050" dirty="0">
                <a:latin typeface="Calibri" panose="020F0502020204030204" pitchFamily="34" charset="0"/>
                <a:cs typeface="Calibri" panose="020F0502020204030204" pitchFamily="34" charset="0"/>
              </a:rPr>
              <a:t> Jagdish Parmer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050" dirty="0">
                <a:latin typeface="Calibri" panose="020F0502020204030204" pitchFamily="34" charset="0"/>
                <a:cs typeface="Calibri" panose="020F0502020204030204" pitchFamily="34" charset="0"/>
              </a:rPr>
              <a:t>Pramit </a:t>
            </a:r>
            <a:r>
              <a:rPr lang="en" sz="1050" dirty="0" err="1">
                <a:latin typeface="Calibri" panose="020F0502020204030204" pitchFamily="34" charset="0"/>
                <a:cs typeface="Calibri" panose="020F0502020204030204" pitchFamily="34" charset="0"/>
              </a:rPr>
              <a:t>Shivakumar</a:t>
            </a:r>
            <a:r>
              <a:rPr lang="en" sz="10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" sz="1050" dirty="0" err="1">
                <a:latin typeface="Calibri" panose="020F0502020204030204" pitchFamily="34" charset="0"/>
                <a:cs typeface="Calibri" panose="020F0502020204030204" pitchFamily="34" charset="0"/>
              </a:rPr>
              <a:t>Jagate</a:t>
            </a:r>
            <a:r>
              <a:rPr lang="en" sz="10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050" dirty="0">
                <a:latin typeface="Calibri" panose="020F0502020204030204" pitchFamily="34" charset="0"/>
                <a:cs typeface="Calibri" panose="020F0502020204030204" pitchFamily="34" charset="0"/>
              </a:rPr>
              <a:t>Yashaswi Ramachandra Reddy</a:t>
            </a:r>
            <a:br>
              <a:rPr lang="en" sz="105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sz="10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FF871C-7678-7F0E-5F4E-44C8D0550C53}"/>
              </a:ext>
            </a:extLst>
          </p:cNvPr>
          <p:cNvSpPr txBox="1"/>
          <p:nvPr/>
        </p:nvSpPr>
        <p:spPr>
          <a:xfrm>
            <a:off x="6194972" y="-20060"/>
            <a:ext cx="29490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i="1" dirty="0">
                <a:latin typeface="Calibri" panose="020F0502020204030204" pitchFamily="34" charset="0"/>
                <a:cs typeface="Calibri" panose="020F0502020204030204" pitchFamily="34" charset="0"/>
              </a:rPr>
              <a:t>BUAN: 6341.003, Applied Machine Learning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8FC80-F2E4-3334-9F8A-BB2AB22D0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Table of Content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B2E0C2-8700-B5E4-3B6A-1D6EA46DECB7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FD9A86A-8CC0-75A3-80CE-27CE7887C7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27C1799-AE52-07C9-2D1C-4858C60EA35E}"/>
              </a:ext>
            </a:extLst>
          </p:cNvPr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2.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C229125-C7F6-A812-D9B7-89EB0EBD59A1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Data Description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FEAC11C-F4F7-A5AE-90FC-A3BEE704867A}"/>
              </a:ext>
            </a:extLst>
          </p:cNvPr>
          <p:cNvSpPr>
            <a:spLocks noGrp="1"/>
          </p:cNvSpPr>
          <p:nvPr>
            <p:ph type="title" idx="5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3.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060D8BFD-05A3-2024-B351-A558A3B211D0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1454700" y="2584922"/>
            <a:ext cx="3301858" cy="344700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Exploratory Data Analysis 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02E867C-6B93-5E6B-7F10-ACA27DC152C8}"/>
              </a:ext>
            </a:extLst>
          </p:cNvPr>
          <p:cNvSpPr>
            <a:spLocks noGrp="1"/>
          </p:cNvSpPr>
          <p:nvPr>
            <p:ph type="title" idx="7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4.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6E4A8BD6-32B7-4E41-02A8-1724CBBB082E}"/>
              </a:ext>
            </a:extLst>
          </p:cNvPr>
          <p:cNvSpPr>
            <a:spLocks noGrp="1"/>
          </p:cNvSpPr>
          <p:nvPr>
            <p:ph type="subTitle" idx="8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Data Modeling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828189A2-37FB-194E-9D3C-7B5F22604434}"/>
              </a:ext>
            </a:extLst>
          </p:cNvPr>
          <p:cNvSpPr>
            <a:spLocks noGrp="1"/>
          </p:cNvSpPr>
          <p:nvPr>
            <p:ph type="title" idx="9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5.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784C1639-FA46-3364-E212-E6A38B05E8CC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168697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FD10DC-87F5-8D4F-C3FD-E250F4C1A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</p:spPr>
        <p:txBody>
          <a:bodyPr wrap="square" anchor="t"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41F02E-A327-E376-E9D7-1A8F95A4FE3A}"/>
              </a:ext>
            </a:extLst>
          </p:cNvPr>
          <p:cNvSpPr txBox="1"/>
          <p:nvPr/>
        </p:nvSpPr>
        <p:spPr>
          <a:xfrm>
            <a:off x="720000" y="822121"/>
            <a:ext cx="66189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Predicting Wildfire Risk Using Machine Learning and Environmental Data</a:t>
            </a:r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DCCC51-5713-7F63-E6A9-339B70EC8365}"/>
              </a:ext>
            </a:extLst>
          </p:cNvPr>
          <p:cNvSpPr/>
          <p:nvPr/>
        </p:nvSpPr>
        <p:spPr>
          <a:xfrm>
            <a:off x="719997" y="1506112"/>
            <a:ext cx="755009" cy="9038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256286-CC5E-8278-7CAE-90D34FBDAD01}"/>
              </a:ext>
            </a:extLst>
          </p:cNvPr>
          <p:cNvSpPr txBox="1"/>
          <p:nvPr/>
        </p:nvSpPr>
        <p:spPr>
          <a:xfrm>
            <a:off x="1585517" y="1702080"/>
            <a:ext cx="537734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Wildfires in California are rising in frequency and intensity due to climate change, drought, and vegetation stress.</a:t>
            </a:r>
            <a:b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Early detection of high-risk zones is key to better resource allocation and disaster response.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EDC5BA-6686-AEFE-EC00-8EB4EC780685}"/>
              </a:ext>
            </a:extLst>
          </p:cNvPr>
          <p:cNvSpPr/>
          <p:nvPr/>
        </p:nvSpPr>
        <p:spPr>
          <a:xfrm>
            <a:off x="1661019" y="1498208"/>
            <a:ext cx="1249961" cy="2131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Preface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DB6D025-E248-7E6A-0DBA-BD588E405F6E}"/>
              </a:ext>
            </a:extLst>
          </p:cNvPr>
          <p:cNvSpPr/>
          <p:nvPr/>
        </p:nvSpPr>
        <p:spPr>
          <a:xfrm>
            <a:off x="719997" y="2745647"/>
            <a:ext cx="755009" cy="9038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713400-DEB4-1A5D-E5F8-FB13C3B1E4EA}"/>
              </a:ext>
            </a:extLst>
          </p:cNvPr>
          <p:cNvSpPr txBox="1"/>
          <p:nvPr/>
        </p:nvSpPr>
        <p:spPr>
          <a:xfrm>
            <a:off x="1585516" y="3147013"/>
            <a:ext cx="53773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redict wildfire risk across California by analyzing environmental patterns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FE849E-5C18-E9D0-AC71-647A393C2EEC}"/>
              </a:ext>
            </a:extLst>
          </p:cNvPr>
          <p:cNvSpPr/>
          <p:nvPr/>
        </p:nvSpPr>
        <p:spPr>
          <a:xfrm>
            <a:off x="1661019" y="2737743"/>
            <a:ext cx="1249961" cy="2131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Objective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F70EA2-DFB1-F475-0E2F-0758D7D0B542}"/>
              </a:ext>
            </a:extLst>
          </p:cNvPr>
          <p:cNvSpPr/>
          <p:nvPr/>
        </p:nvSpPr>
        <p:spPr>
          <a:xfrm>
            <a:off x="719997" y="3985181"/>
            <a:ext cx="755009" cy="9038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222F48-53A5-1888-2AE5-287B3891DD67}"/>
              </a:ext>
            </a:extLst>
          </p:cNvPr>
          <p:cNvSpPr txBox="1"/>
          <p:nvPr/>
        </p:nvSpPr>
        <p:spPr>
          <a:xfrm>
            <a:off x="1585516" y="4253392"/>
            <a:ext cx="537734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Integrate wildfire and environmental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Train and evaluated Regression models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Generated calibrated fire risk predictions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4A85B1-9BEC-5A06-680F-D7D99F123720}"/>
              </a:ext>
            </a:extLst>
          </p:cNvPr>
          <p:cNvSpPr/>
          <p:nvPr/>
        </p:nvSpPr>
        <p:spPr>
          <a:xfrm>
            <a:off x="1661019" y="3977277"/>
            <a:ext cx="1249961" cy="2131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Approach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46DBDAC-5794-1C96-1AA5-1D411C2F4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21" y="4131342"/>
            <a:ext cx="546624" cy="546624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13FBDD8-D35C-5FA5-FECC-BE984F681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105" y="2923253"/>
            <a:ext cx="548640" cy="548640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768BAD2-57CA-66FE-C0DF-521A97E12B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121" y="1683718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66D46E7-27CA-79D7-3A2C-A59CE7E9B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Data Description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7A98A3-E3C1-9912-B94E-575D90491128}"/>
              </a:ext>
            </a:extLst>
          </p:cNvPr>
          <p:cNvSpPr txBox="1"/>
          <p:nvPr/>
        </p:nvSpPr>
        <p:spPr>
          <a:xfrm>
            <a:off x="720000" y="1073791"/>
            <a:ext cx="6989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u="sng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Data Sources: </a:t>
            </a:r>
          </a:p>
          <a:p>
            <a:endParaRPr lang="en-US" u="sng" dirty="0">
              <a:solidFill>
                <a:srgbClr val="26262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2A7CCC-8E03-9549-C743-2D40BC4B5D70}"/>
              </a:ext>
            </a:extLst>
          </p:cNvPr>
          <p:cNvSpPr txBox="1"/>
          <p:nvPr/>
        </p:nvSpPr>
        <p:spPr>
          <a:xfrm>
            <a:off x="719999" y="1345479"/>
            <a:ext cx="75515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sng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NASA FIRMS : </a:t>
            </a:r>
            <a:r>
              <a:rPr lang="en-US" sz="1000" b="0" i="0" u="none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Provides satellite-detected wildfire occurrences and fire intensity data </a:t>
            </a:r>
          </a:p>
          <a:p>
            <a:r>
              <a:rPr lang="en-US" sz="1000" b="0" i="0" u="sng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NOAA Climate Data: </a:t>
            </a:r>
            <a:r>
              <a:rPr lang="en-US" sz="1000" b="0" i="0" u="none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Contains climate variables such as temperature, humidity, wind speed, and precipitation, which influence wildfire risk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Manual Operation 15">
            <a:extLst>
              <a:ext uri="{FF2B5EF4-FFF2-40B4-BE49-F238E27FC236}">
                <a16:creationId xmlns:a16="http://schemas.microsoft.com/office/drawing/2014/main" id="{DADBD27E-20DF-8658-9FD1-F51B781A18E5}"/>
              </a:ext>
            </a:extLst>
          </p:cNvPr>
          <p:cNvSpPr/>
          <p:nvPr/>
        </p:nvSpPr>
        <p:spPr>
          <a:xfrm>
            <a:off x="719999" y="2023623"/>
            <a:ext cx="2313041" cy="2330263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7B77B2-8EEE-0254-111E-059289D63BE1}"/>
              </a:ext>
            </a:extLst>
          </p:cNvPr>
          <p:cNvSpPr/>
          <p:nvPr/>
        </p:nvSpPr>
        <p:spPr>
          <a:xfrm>
            <a:off x="847977" y="2065685"/>
            <a:ext cx="796955" cy="209725"/>
          </a:xfrm>
          <a:prstGeom prst="rect">
            <a:avLst/>
          </a:prstGeom>
          <a:solidFill>
            <a:schemeClr val="tx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latitude</a:t>
            </a:r>
            <a:endParaRPr lang="en-US" sz="7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C54786-263F-233A-C85F-1CB48E30B4DA}"/>
              </a:ext>
            </a:extLst>
          </p:cNvPr>
          <p:cNvSpPr/>
          <p:nvPr/>
        </p:nvSpPr>
        <p:spPr>
          <a:xfrm>
            <a:off x="1957916" y="2062507"/>
            <a:ext cx="796955" cy="209725"/>
          </a:xfrm>
          <a:prstGeom prst="rect">
            <a:avLst/>
          </a:prstGeom>
          <a:solidFill>
            <a:schemeClr val="tx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Longitude</a:t>
            </a:r>
            <a:endParaRPr lang="en-US" sz="7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84BEA-B6B2-7CAC-BD95-F9F4D698088E}"/>
              </a:ext>
            </a:extLst>
          </p:cNvPr>
          <p:cNvSpPr/>
          <p:nvPr/>
        </p:nvSpPr>
        <p:spPr>
          <a:xfrm>
            <a:off x="1957916" y="2385143"/>
            <a:ext cx="796955" cy="209725"/>
          </a:xfrm>
          <a:prstGeom prst="rect">
            <a:avLst/>
          </a:prstGeom>
          <a:solidFill>
            <a:schemeClr val="tx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Confidence </a:t>
            </a:r>
            <a:endParaRPr lang="en-US" sz="7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115424-E4D0-17E1-C66D-115C7B3865EA}"/>
              </a:ext>
            </a:extLst>
          </p:cNvPr>
          <p:cNvSpPr/>
          <p:nvPr/>
        </p:nvSpPr>
        <p:spPr>
          <a:xfrm>
            <a:off x="878603" y="2385143"/>
            <a:ext cx="796955" cy="209725"/>
          </a:xfrm>
          <a:prstGeom prst="rect">
            <a:avLst/>
          </a:prstGeom>
          <a:solidFill>
            <a:schemeClr val="tx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Year_month</a:t>
            </a:r>
            <a:endParaRPr lang="en-US" sz="7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28C25D-480E-97E8-00D6-FE58DCBED6CF}"/>
              </a:ext>
            </a:extLst>
          </p:cNvPr>
          <p:cNvSpPr/>
          <p:nvPr/>
        </p:nvSpPr>
        <p:spPr>
          <a:xfrm rot="17330388">
            <a:off x="1998754" y="3612036"/>
            <a:ext cx="949355" cy="209725"/>
          </a:xfrm>
          <a:prstGeom prst="rect">
            <a:avLst/>
          </a:prstGeom>
          <a:solidFill>
            <a:schemeClr val="tx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 PRECTOTCORR </a:t>
            </a:r>
            <a:endParaRPr lang="en-US" sz="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6B3CCA-BCD4-1767-F922-4081AB9A050C}"/>
              </a:ext>
            </a:extLst>
          </p:cNvPr>
          <p:cNvSpPr/>
          <p:nvPr/>
        </p:nvSpPr>
        <p:spPr>
          <a:xfrm>
            <a:off x="1182848" y="2679434"/>
            <a:ext cx="796955" cy="209725"/>
          </a:xfrm>
          <a:prstGeom prst="rect">
            <a:avLst/>
          </a:prstGeom>
          <a:solidFill>
            <a:schemeClr val="tx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RH2M</a:t>
            </a:r>
            <a:endParaRPr lang="en-US" sz="3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64B823-AB6A-0BE0-8EF7-BA2A14111230}"/>
              </a:ext>
            </a:extLst>
          </p:cNvPr>
          <p:cNvSpPr/>
          <p:nvPr/>
        </p:nvSpPr>
        <p:spPr>
          <a:xfrm>
            <a:off x="1970501" y="2965260"/>
            <a:ext cx="796955" cy="209725"/>
          </a:xfrm>
          <a:prstGeom prst="rect">
            <a:avLst/>
          </a:prstGeom>
          <a:solidFill>
            <a:schemeClr val="tx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WD10M</a:t>
            </a:r>
            <a:endParaRPr lang="en-US" sz="5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84AE9B-929D-A1AB-CDFC-03A9FF99D3FB}"/>
              </a:ext>
            </a:extLst>
          </p:cNvPr>
          <p:cNvSpPr/>
          <p:nvPr/>
        </p:nvSpPr>
        <p:spPr>
          <a:xfrm>
            <a:off x="1180232" y="3628174"/>
            <a:ext cx="796955" cy="209725"/>
          </a:xfrm>
          <a:prstGeom prst="rect">
            <a:avLst/>
          </a:prstGeom>
          <a:solidFill>
            <a:schemeClr val="tx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NDVI</a:t>
            </a:r>
            <a:endParaRPr lang="en-US" sz="5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962033-7810-B0C9-B2DA-10FD4D2DB765}"/>
              </a:ext>
            </a:extLst>
          </p:cNvPr>
          <p:cNvSpPr/>
          <p:nvPr/>
        </p:nvSpPr>
        <p:spPr>
          <a:xfrm rot="4489869">
            <a:off x="701651" y="3017727"/>
            <a:ext cx="796955" cy="209725"/>
          </a:xfrm>
          <a:prstGeom prst="rect">
            <a:avLst/>
          </a:prstGeom>
          <a:solidFill>
            <a:schemeClr val="tx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T2M </a:t>
            </a:r>
            <a:endParaRPr lang="en-US" sz="5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F30EE61-FFCE-C1B5-480F-9B84815DFBE2}"/>
              </a:ext>
            </a:extLst>
          </p:cNvPr>
          <p:cNvSpPr/>
          <p:nvPr/>
        </p:nvSpPr>
        <p:spPr>
          <a:xfrm>
            <a:off x="1491041" y="3335652"/>
            <a:ext cx="796955" cy="209725"/>
          </a:xfrm>
          <a:prstGeom prst="rect">
            <a:avLst/>
          </a:prstGeom>
          <a:solidFill>
            <a:schemeClr val="tx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Elevation</a:t>
            </a:r>
            <a:endParaRPr lang="en-US" sz="5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7F0514-1152-95B4-6475-7EECE4540747}"/>
              </a:ext>
            </a:extLst>
          </p:cNvPr>
          <p:cNvSpPr/>
          <p:nvPr/>
        </p:nvSpPr>
        <p:spPr>
          <a:xfrm>
            <a:off x="1284116" y="3024065"/>
            <a:ext cx="605403" cy="209725"/>
          </a:xfrm>
          <a:prstGeom prst="rect">
            <a:avLst/>
          </a:prstGeom>
          <a:solidFill>
            <a:schemeClr val="tx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slope</a:t>
            </a:r>
            <a:endParaRPr lang="en-US" sz="5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AB134FE-40DE-C048-5D42-B4530FCCDF84}"/>
              </a:ext>
            </a:extLst>
          </p:cNvPr>
          <p:cNvSpPr/>
          <p:nvPr/>
        </p:nvSpPr>
        <p:spPr>
          <a:xfrm>
            <a:off x="2045372" y="2704601"/>
            <a:ext cx="796955" cy="209725"/>
          </a:xfrm>
          <a:prstGeom prst="rect">
            <a:avLst/>
          </a:prstGeom>
          <a:solidFill>
            <a:schemeClr val="tx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aspect</a:t>
            </a:r>
            <a:endParaRPr lang="en-US" sz="5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D48EA15-63CB-1B30-2BB3-607DB82C9175}"/>
              </a:ext>
            </a:extLst>
          </p:cNvPr>
          <p:cNvSpPr/>
          <p:nvPr/>
        </p:nvSpPr>
        <p:spPr>
          <a:xfrm>
            <a:off x="1286429" y="3920696"/>
            <a:ext cx="796955" cy="209725"/>
          </a:xfrm>
          <a:prstGeom prst="rect">
            <a:avLst/>
          </a:prstGeom>
          <a:solidFill>
            <a:schemeClr val="tx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T2M_MAX</a:t>
            </a:r>
            <a:endParaRPr lang="en-US" sz="5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Down Arrow 35">
            <a:extLst>
              <a:ext uri="{FF2B5EF4-FFF2-40B4-BE49-F238E27FC236}">
                <a16:creationId xmlns:a16="http://schemas.microsoft.com/office/drawing/2014/main" id="{C1CD6787-195B-1181-84BA-C40C2AB75539}"/>
              </a:ext>
            </a:extLst>
          </p:cNvPr>
          <p:cNvSpPr/>
          <p:nvPr/>
        </p:nvSpPr>
        <p:spPr>
          <a:xfrm>
            <a:off x="1765586" y="4436933"/>
            <a:ext cx="45719" cy="2692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DB9AE43-13C9-D244-A610-944898B94515}"/>
              </a:ext>
            </a:extLst>
          </p:cNvPr>
          <p:cNvSpPr/>
          <p:nvPr/>
        </p:nvSpPr>
        <p:spPr>
          <a:xfrm>
            <a:off x="1194770" y="4779330"/>
            <a:ext cx="1277712" cy="20133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Final Data frame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7C290ECD-E1A8-E68E-3F49-7A7C632CD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786902"/>
              </p:ext>
            </p:extLst>
          </p:nvPr>
        </p:nvGraphicFramePr>
        <p:xfrm>
          <a:off x="4137931" y="1842440"/>
          <a:ext cx="3946062" cy="3208138"/>
        </p:xfrm>
        <a:graphic>
          <a:graphicData uri="http://schemas.openxmlformats.org/drawingml/2006/table">
            <a:tbl>
              <a:tblPr>
                <a:tableStyleId>{0F89255E-2ACE-419B-871D-2CE447EFE5EC}</a:tableStyleId>
              </a:tblPr>
              <a:tblGrid>
                <a:gridCol w="1358060">
                  <a:extLst>
                    <a:ext uri="{9D8B030D-6E8A-4147-A177-3AD203B41FA5}">
                      <a16:colId xmlns:a16="http://schemas.microsoft.com/office/drawing/2014/main" val="365364446"/>
                    </a:ext>
                  </a:extLst>
                </a:gridCol>
                <a:gridCol w="2588002">
                  <a:extLst>
                    <a:ext uri="{9D8B030D-6E8A-4147-A177-3AD203B41FA5}">
                      <a16:colId xmlns:a16="http://schemas.microsoft.com/office/drawing/2014/main" val="4070817358"/>
                    </a:ext>
                  </a:extLst>
                </a:gridCol>
              </a:tblGrid>
              <a:tr h="1427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Column Name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b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b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215519"/>
                  </a:ext>
                </a:extLst>
              </a:tr>
              <a:tr h="1427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latitude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Latitude of fire event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b"/>
                </a:tc>
                <a:extLst>
                  <a:ext uri="{0D108BD9-81ED-4DB2-BD59-A6C34878D82A}">
                    <a16:rowId xmlns:a16="http://schemas.microsoft.com/office/drawing/2014/main" val="3093524364"/>
                  </a:ext>
                </a:extLst>
              </a:tr>
              <a:tr h="1427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longitude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Longitude of fire event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b"/>
                </a:tc>
                <a:extLst>
                  <a:ext uri="{0D108BD9-81ED-4DB2-BD59-A6C34878D82A}">
                    <a16:rowId xmlns:a16="http://schemas.microsoft.com/office/drawing/2014/main" val="2429706869"/>
                  </a:ext>
                </a:extLst>
              </a:tr>
              <a:tr h="1427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acq_date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Acquisition date of fire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b"/>
                </a:tc>
                <a:extLst>
                  <a:ext uri="{0D108BD9-81ED-4DB2-BD59-A6C34878D82A}">
                    <a16:rowId xmlns:a16="http://schemas.microsoft.com/office/drawing/2014/main" val="4116991858"/>
                  </a:ext>
                </a:extLst>
              </a:tr>
              <a:tr h="1427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satellite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Satellite source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b"/>
                </a:tc>
                <a:extLst>
                  <a:ext uri="{0D108BD9-81ED-4DB2-BD59-A6C34878D82A}">
                    <a16:rowId xmlns:a16="http://schemas.microsoft.com/office/drawing/2014/main" val="3124893272"/>
                  </a:ext>
                </a:extLst>
              </a:tr>
              <a:tr h="1427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instrument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Instrument used to record the fire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b"/>
                </a:tc>
                <a:extLst>
                  <a:ext uri="{0D108BD9-81ED-4DB2-BD59-A6C34878D82A}">
                    <a16:rowId xmlns:a16="http://schemas.microsoft.com/office/drawing/2014/main" val="2590309985"/>
                  </a:ext>
                </a:extLst>
              </a:tr>
              <a:tr h="1427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confidence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Fire detection confidence score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b"/>
                </a:tc>
                <a:extLst>
                  <a:ext uri="{0D108BD9-81ED-4DB2-BD59-A6C34878D82A}">
                    <a16:rowId xmlns:a16="http://schemas.microsoft.com/office/drawing/2014/main" val="4153367917"/>
                  </a:ext>
                </a:extLst>
              </a:tr>
              <a:tr h="1427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year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Year of the event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b"/>
                </a:tc>
                <a:extLst>
                  <a:ext uri="{0D108BD9-81ED-4DB2-BD59-A6C34878D82A}">
                    <a16:rowId xmlns:a16="http://schemas.microsoft.com/office/drawing/2014/main" val="1108004275"/>
                  </a:ext>
                </a:extLst>
              </a:tr>
              <a:tr h="1427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month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Month of the event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b"/>
                </a:tc>
                <a:extLst>
                  <a:ext uri="{0D108BD9-81ED-4DB2-BD59-A6C34878D82A}">
                    <a16:rowId xmlns:a16="http://schemas.microsoft.com/office/drawing/2014/main" val="2784744315"/>
                  </a:ext>
                </a:extLst>
              </a:tr>
              <a:tr h="1427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year_month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Merging key (YYYYMM)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b"/>
                </a:tc>
                <a:extLst>
                  <a:ext uri="{0D108BD9-81ED-4DB2-BD59-A6C34878D82A}">
                    <a16:rowId xmlns:a16="http://schemas.microsoft.com/office/drawing/2014/main" val="2748341550"/>
                  </a:ext>
                </a:extLst>
              </a:tr>
              <a:tr h="1427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PRECTOTCORR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Avg. daily precipitation (mm)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b"/>
                </a:tc>
                <a:extLst>
                  <a:ext uri="{0D108BD9-81ED-4DB2-BD59-A6C34878D82A}">
                    <a16:rowId xmlns:a16="http://schemas.microsoft.com/office/drawing/2014/main" val="1731382968"/>
                  </a:ext>
                </a:extLst>
              </a:tr>
              <a:tr h="1427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PRECTOTCORR_SUM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 monthly precipitation (mm)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b"/>
                </a:tc>
                <a:extLst>
                  <a:ext uri="{0D108BD9-81ED-4DB2-BD59-A6C34878D82A}">
                    <a16:rowId xmlns:a16="http://schemas.microsoft.com/office/drawing/2014/main" val="3390091395"/>
                  </a:ext>
                </a:extLst>
              </a:tr>
              <a:tr h="1427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RH2M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Relative humidity (%)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b"/>
                </a:tc>
                <a:extLst>
                  <a:ext uri="{0D108BD9-81ED-4DB2-BD59-A6C34878D82A}">
                    <a16:rowId xmlns:a16="http://schemas.microsoft.com/office/drawing/2014/main" val="3210555971"/>
                  </a:ext>
                </a:extLst>
              </a:tr>
              <a:tr h="1427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WD10M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Wind direction (degrees)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b"/>
                </a:tc>
                <a:extLst>
                  <a:ext uri="{0D108BD9-81ED-4DB2-BD59-A6C34878D82A}">
                    <a16:rowId xmlns:a16="http://schemas.microsoft.com/office/drawing/2014/main" val="3721694338"/>
                  </a:ext>
                </a:extLst>
              </a:tr>
              <a:tr h="1427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WS10M_RANGE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Wind speed range (m/s)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b"/>
                </a:tc>
                <a:extLst>
                  <a:ext uri="{0D108BD9-81ED-4DB2-BD59-A6C34878D82A}">
                    <a16:rowId xmlns:a16="http://schemas.microsoft.com/office/drawing/2014/main" val="1560508442"/>
                  </a:ext>
                </a:extLst>
              </a:tr>
              <a:tr h="1427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NDVI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Vegetation index (0 to 1)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b"/>
                </a:tc>
                <a:extLst>
                  <a:ext uri="{0D108BD9-81ED-4DB2-BD59-A6C34878D82A}">
                    <a16:rowId xmlns:a16="http://schemas.microsoft.com/office/drawing/2014/main" val="235006657"/>
                  </a:ext>
                </a:extLst>
              </a:tr>
              <a:tr h="1427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T2M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Avg. temperature at 2m (Celsius)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b"/>
                </a:tc>
                <a:extLst>
                  <a:ext uri="{0D108BD9-81ED-4DB2-BD59-A6C34878D82A}">
                    <a16:rowId xmlns:a16="http://schemas.microsoft.com/office/drawing/2014/main" val="1851857882"/>
                  </a:ext>
                </a:extLst>
              </a:tr>
              <a:tr h="1427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T2M_MAX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Max temperature (Celsius)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b"/>
                </a:tc>
                <a:extLst>
                  <a:ext uri="{0D108BD9-81ED-4DB2-BD59-A6C34878D82A}">
                    <a16:rowId xmlns:a16="http://schemas.microsoft.com/office/drawing/2014/main" val="3980602618"/>
                  </a:ext>
                </a:extLst>
              </a:tr>
              <a:tr h="1427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Surface (skin) temperature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b"/>
                </a:tc>
                <a:extLst>
                  <a:ext uri="{0D108BD9-81ED-4DB2-BD59-A6C34878D82A}">
                    <a16:rowId xmlns:a16="http://schemas.microsoft.com/office/drawing/2014/main" val="3105464129"/>
                  </a:ext>
                </a:extLst>
              </a:tr>
              <a:tr h="1427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elevation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Avg. elevation (m)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b"/>
                </a:tc>
                <a:extLst>
                  <a:ext uri="{0D108BD9-81ED-4DB2-BD59-A6C34878D82A}">
                    <a16:rowId xmlns:a16="http://schemas.microsoft.com/office/drawing/2014/main" val="3934504550"/>
                  </a:ext>
                </a:extLst>
              </a:tr>
              <a:tr h="1427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slope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Avg. terrain slope (degrees)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b"/>
                </a:tc>
                <a:extLst>
                  <a:ext uri="{0D108BD9-81ED-4DB2-BD59-A6C34878D82A}">
                    <a16:rowId xmlns:a16="http://schemas.microsoft.com/office/drawing/2014/main" val="1171343095"/>
                  </a:ext>
                </a:extLst>
              </a:tr>
              <a:tr h="1427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aspect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Avg. terrain aspect (degrees from North)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79" marR="7279" marT="7279" marB="0" anchor="b"/>
                </a:tc>
                <a:extLst>
                  <a:ext uri="{0D108BD9-81ED-4DB2-BD59-A6C34878D82A}">
                    <a16:rowId xmlns:a16="http://schemas.microsoft.com/office/drawing/2014/main" val="3198997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9517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7A437-7449-26B2-F7AA-E8F4CE87C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Exploratory Data Analysis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3517AC-E5EA-CCF5-0503-27275AA87F5D}"/>
              </a:ext>
            </a:extLst>
          </p:cNvPr>
          <p:cNvSpPr txBox="1"/>
          <p:nvPr/>
        </p:nvSpPr>
        <p:spPr>
          <a:xfrm>
            <a:off x="720000" y="853829"/>
            <a:ext cx="66189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Most wildfires occur due to low vegetation, low humidity and high temperatures</a:t>
            </a:r>
            <a:endParaRPr lang="en-US" sz="12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24798B8-E87F-1726-8A80-E29F491F9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647" y="1206260"/>
            <a:ext cx="3915032" cy="3214737"/>
          </a:xfrm>
          <a:prstGeom prst="rect">
            <a:avLst/>
          </a:prstGeom>
        </p:spPr>
      </p:pic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E68AD10F-40E6-EF7E-2BE9-7DD16E7D4316}"/>
              </a:ext>
            </a:extLst>
          </p:cNvPr>
          <p:cNvSpPr txBox="1">
            <a:spLocks/>
          </p:cNvSpPr>
          <p:nvPr/>
        </p:nvSpPr>
        <p:spPr>
          <a:xfrm>
            <a:off x="720000" y="1750762"/>
            <a:ext cx="3915032" cy="2125731"/>
          </a:xfrm>
          <a:prstGeom prst="rect">
            <a:avLst/>
          </a:prstGeom>
          <a:solidFill>
            <a:srgbClr val="F1E7DC">
              <a:alpha val="52157"/>
            </a:srgbClr>
          </a:solidFill>
          <a:ln>
            <a:solidFill>
              <a:schemeClr val="tx1"/>
            </a:solidFill>
          </a:ln>
        </p:spPr>
        <p:txBody>
          <a:bodyPr anchor="t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1450" indent="-171450">
              <a:buFont typeface="Wingdings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Majority of fires occurred in national forest regions</a:t>
            </a:r>
          </a:p>
          <a:p>
            <a:endParaRPr lang="en-US" dirty="0">
              <a:latin typeface="Calibri" panose="020F0502020204030204" pitchFamily="34" charset="0"/>
              <a:ea typeface="+mn-lt"/>
              <a:cs typeface="Calibri" panose="020F0502020204030204" pitchFamily="34" charset="0"/>
            </a:endParaRPr>
          </a:p>
          <a:p>
            <a:pPr marL="171450" indent="-171450">
              <a:buFont typeface="Wingdings" pitchFamily="2" charset="2"/>
              <a:buChar char="Ø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 2020, wildfires were at their peak, with a total of 270,710 reported incidents — the highest on record</a:t>
            </a:r>
          </a:p>
          <a:p>
            <a:endParaRPr lang="en-US" dirty="0">
              <a:latin typeface="Calibri" panose="020F0502020204030204" pitchFamily="34" charset="0"/>
              <a:ea typeface="+mn-lt"/>
              <a:cs typeface="Calibri" panose="020F0502020204030204" pitchFamily="34" charset="0"/>
            </a:endParaRPr>
          </a:p>
          <a:p>
            <a:pPr marL="171450" indent="-171450">
              <a:buFont typeface="Wingdings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Hotspots Identified in :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Northern California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Central-Eastern California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Southern California</a:t>
            </a:r>
          </a:p>
          <a:p>
            <a:pPr marL="171450" indent="-171450">
              <a:buFont typeface="Wingdings" pitchFamily="2" charset="2"/>
              <a:buChar char="Ø"/>
            </a:pPr>
            <a:endParaRPr lang="en-US" dirty="0">
              <a:latin typeface="Calibri" panose="020F0502020204030204" pitchFamily="34" charset="0"/>
              <a:ea typeface="+mn-lt"/>
              <a:cs typeface="Calibri" panose="020F0502020204030204" pitchFamily="34" charset="0"/>
            </a:endParaRPr>
          </a:p>
          <a:p>
            <a:pPr lvl="2"/>
            <a:endParaRPr lang="en-US" sz="1050" dirty="0">
              <a:latin typeface="Calibri" panose="020F0502020204030204" pitchFamily="34" charset="0"/>
              <a:ea typeface="+mn-lt"/>
              <a:cs typeface="Calibri" panose="020F0502020204030204" pitchFamily="34" charset="0"/>
            </a:endParaRPr>
          </a:p>
          <a:p>
            <a:endParaRPr lang="en-US" sz="1050" b="1" dirty="0">
              <a:latin typeface="Calibri" panose="020F0502020204030204" pitchFamily="34" charset="0"/>
              <a:ea typeface="+mn-lt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110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4D6B8-6AD7-3D46-2C3D-95B1D67BE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75D8B-432F-DF0E-8744-1CA23BE23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Exploratory Data Analysis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D909D7-42A9-793B-8605-C9818FE74EC6}"/>
              </a:ext>
            </a:extLst>
          </p:cNvPr>
          <p:cNvSpPr txBox="1"/>
          <p:nvPr/>
        </p:nvSpPr>
        <p:spPr>
          <a:xfrm>
            <a:off x="720000" y="853829"/>
            <a:ext cx="66189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Climatic factors and monthly trends</a:t>
            </a:r>
            <a:endParaRPr lang="en-US" sz="12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8C8F2615-802F-FD7E-D69A-E6CEF41799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9806"/>
          <a:stretch/>
        </p:blipFill>
        <p:spPr>
          <a:xfrm>
            <a:off x="606143" y="1236099"/>
            <a:ext cx="5206432" cy="1716826"/>
          </a:xfrm>
          <a:prstGeom prst="rect">
            <a:avLst/>
          </a:prstGeom>
        </p:spPr>
      </p:pic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84B9776A-C12B-03BC-6E88-9083701AA4B3}"/>
              </a:ext>
            </a:extLst>
          </p:cNvPr>
          <p:cNvSpPr txBox="1">
            <a:spLocks/>
          </p:cNvSpPr>
          <p:nvPr/>
        </p:nvSpPr>
        <p:spPr>
          <a:xfrm>
            <a:off x="6023294" y="1236099"/>
            <a:ext cx="2400706" cy="3394625"/>
          </a:xfrm>
          <a:prstGeom prst="rect">
            <a:avLst/>
          </a:prstGeom>
          <a:solidFill>
            <a:srgbClr val="F1E7DC"/>
          </a:solidFill>
        </p:spPr>
        <p:txBody>
          <a:bodyPr anchor="t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100" dirty="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 </a:t>
            </a:r>
            <a:r>
              <a:rPr lang="en-US" sz="1200" b="1" u="sng" dirty="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Most wildfires recorded in areas with</a:t>
            </a:r>
            <a:r>
              <a:rPr lang="en-US" sz="1200" dirty="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: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200" dirty="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Vegetation Index: 0.27 – 0.30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200" dirty="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Higher temperatures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200" dirty="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Lower humidity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200" dirty="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Low wind speed variation</a:t>
            </a:r>
          </a:p>
          <a:p>
            <a:pPr lvl="1"/>
            <a:endParaRPr lang="en-US" sz="1200" dirty="0">
              <a:latin typeface="Calibri" panose="020F0502020204030204" pitchFamily="34" charset="0"/>
              <a:ea typeface="+mn-lt"/>
              <a:cs typeface="Calibri" panose="020F0502020204030204" pitchFamily="34" charset="0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200" dirty="0">
              <a:latin typeface="Calibri" panose="020F0502020204030204" pitchFamily="34" charset="0"/>
              <a:ea typeface="+mn-lt"/>
              <a:cs typeface="Calibri" panose="020F0502020204030204" pitchFamily="34" charset="0"/>
            </a:endParaRPr>
          </a:p>
          <a:p>
            <a:r>
              <a:rPr lang="en-US" sz="1200" b="1" u="sng" dirty="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Peak wildfire months</a:t>
            </a:r>
            <a:r>
              <a:rPr lang="en-US" sz="1200" dirty="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: July – October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1" u="sng" dirty="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Low vegetation index</a:t>
            </a:r>
            <a:r>
              <a:rPr lang="en-US" sz="1200" dirty="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: August – October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1" u="sng" dirty="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Low humidity levels</a:t>
            </a:r>
            <a:r>
              <a:rPr lang="en-US" sz="1200" dirty="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: July – October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dirty="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 </a:t>
            </a:r>
            <a:r>
              <a:rPr lang="en-US" sz="1200" b="1" u="sng" dirty="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High temperatures</a:t>
            </a:r>
            <a:r>
              <a:rPr lang="en-US" sz="1200" dirty="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: June – September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1751EC-6411-7A4F-CDE8-84E455EFA7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4" r="4" b="4"/>
          <a:stretch/>
        </p:blipFill>
        <p:spPr>
          <a:xfrm>
            <a:off x="720000" y="3165945"/>
            <a:ext cx="2501372" cy="1716826"/>
          </a:xfrm>
          <a:prstGeom prst="rect">
            <a:avLst/>
          </a:prstGeom>
        </p:spPr>
      </p:pic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D5999D72-EF1D-6E33-08E0-D1F2C0435D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98" b="4"/>
          <a:stretch/>
        </p:blipFill>
        <p:spPr>
          <a:xfrm>
            <a:off x="3311203" y="3219427"/>
            <a:ext cx="2501372" cy="154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393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B1DFA-2921-5D44-A56D-ED60A1672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8F9DD-CCE0-1064-1016-7EB6CC6BF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Data Modeling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A29673-C888-84B4-EECC-07ADF2BE7074}"/>
              </a:ext>
            </a:extLst>
          </p:cNvPr>
          <p:cNvSpPr txBox="1"/>
          <p:nvPr/>
        </p:nvSpPr>
        <p:spPr>
          <a:xfrm>
            <a:off x="720000" y="853829"/>
            <a:ext cx="76102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Stacked model achieved the best F1 score by combining strengths of all </a:t>
            </a:r>
            <a:r>
              <a:rPr lang="en-US" sz="1200" b="0" i="1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en-US" sz="12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and RF models for balanced prediction</a:t>
            </a:r>
            <a:endParaRPr lang="en-US" sz="9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Picture 12" descr="A table of performance comparison&#10;&#10;Description automatically generated">
            <a:extLst>
              <a:ext uri="{FF2B5EF4-FFF2-40B4-BE49-F238E27FC236}">
                <a16:creationId xmlns:a16="http://schemas.microsoft.com/office/drawing/2014/main" id="{9F0D9104-6FB1-65DD-457A-45A88A2F13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725"/>
          <a:stretch/>
        </p:blipFill>
        <p:spPr>
          <a:xfrm>
            <a:off x="855677" y="3201367"/>
            <a:ext cx="7294954" cy="184041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9671AE0-173A-CDF9-7233-3D2BF86D93C1}"/>
              </a:ext>
            </a:extLst>
          </p:cNvPr>
          <p:cNvSpPr/>
          <p:nvPr/>
        </p:nvSpPr>
        <p:spPr>
          <a:xfrm>
            <a:off x="922789" y="1438765"/>
            <a:ext cx="2013357" cy="16088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ACF252-18CF-66B1-DAA8-31B03FF0C499}"/>
              </a:ext>
            </a:extLst>
          </p:cNvPr>
          <p:cNvSpPr/>
          <p:nvPr/>
        </p:nvSpPr>
        <p:spPr>
          <a:xfrm>
            <a:off x="922789" y="1438766"/>
            <a:ext cx="2013357" cy="285274"/>
          </a:xfrm>
          <a:prstGeom prst="rect">
            <a:avLst/>
          </a:prstGeom>
          <a:solidFill>
            <a:srgbClr val="F1E7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Stacked ensemble model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7DF4C2-8AE3-AD07-E7B3-7CAE71CC1624}"/>
              </a:ext>
            </a:extLst>
          </p:cNvPr>
          <p:cNvSpPr txBox="1"/>
          <p:nvPr/>
        </p:nvSpPr>
        <p:spPr>
          <a:xfrm>
            <a:off x="922789" y="1724039"/>
            <a:ext cx="20133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Most </a:t>
            </a:r>
            <a:r>
              <a:rPr lang="en-US" sz="900" b="1" dirty="0">
                <a:latin typeface="Calibri" panose="020F0502020204030204" pitchFamily="34" charset="0"/>
                <a:cs typeface="Calibri" panose="020F0502020204030204" pitchFamily="34" charset="0"/>
              </a:rPr>
              <a:t>accurate and balanced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 model for wildfire prediction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Effectively </a:t>
            </a:r>
            <a:r>
              <a:rPr lang="en-US" sz="900" b="1" dirty="0">
                <a:latin typeface="Calibri" panose="020F0502020204030204" pitchFamily="34" charset="0"/>
                <a:cs typeface="Calibri" panose="020F0502020204030204" pitchFamily="34" charset="0"/>
              </a:rPr>
              <a:t>captures complex fire patterns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 by combining multiple models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High </a:t>
            </a:r>
            <a:r>
              <a:rPr lang="en-US" sz="900" b="1" dirty="0">
                <a:latin typeface="Calibri" panose="020F0502020204030204" pitchFamily="34" charset="0"/>
                <a:cs typeface="Calibri" panose="020F0502020204030204" pitchFamily="34" charset="0"/>
              </a:rPr>
              <a:t>recall (81%)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 means it reliably flags high-risk zones before fires occur</a:t>
            </a:r>
          </a:p>
          <a:p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BB3C74-829E-E4D0-5565-26E0EE431851}"/>
              </a:ext>
            </a:extLst>
          </p:cNvPr>
          <p:cNvSpPr/>
          <p:nvPr/>
        </p:nvSpPr>
        <p:spPr>
          <a:xfrm>
            <a:off x="3565321" y="1438765"/>
            <a:ext cx="2013357" cy="16088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7BC379-B23A-103A-5D0D-06778466EBA7}"/>
              </a:ext>
            </a:extLst>
          </p:cNvPr>
          <p:cNvSpPr/>
          <p:nvPr/>
        </p:nvSpPr>
        <p:spPr>
          <a:xfrm>
            <a:off x="3565321" y="1438766"/>
            <a:ext cx="2013357" cy="285274"/>
          </a:xfrm>
          <a:prstGeom prst="rect">
            <a:avLst/>
          </a:prstGeom>
          <a:solidFill>
            <a:srgbClr val="F1E7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Tuned </a:t>
            </a:r>
            <a:r>
              <a:rPr lang="en-US" sz="105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XGBoost</a:t>
            </a:r>
            <a:endParaRPr lang="en-US" sz="10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D77AAE-4B76-401E-8CCE-F32005F6DB2E}"/>
              </a:ext>
            </a:extLst>
          </p:cNvPr>
          <p:cNvSpPr txBox="1"/>
          <p:nvPr/>
        </p:nvSpPr>
        <p:spPr>
          <a:xfrm>
            <a:off x="3565321" y="1724039"/>
            <a:ext cx="20133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Handles </a:t>
            </a:r>
            <a:r>
              <a:rPr lang="en-US" sz="9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environmental noise</a:t>
            </a:r>
            <a:r>
              <a:rPr lang="en-US" sz="9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(e.g., sudden changes in temperature, wind) well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High AUC (0.817) </a:t>
            </a:r>
            <a:r>
              <a:rPr lang="en-US" sz="9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shows it’s great at distinguishing risky from safe zones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en-US" sz="9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captures subtle patterns </a:t>
            </a:r>
            <a:r>
              <a:rPr lang="en-US" sz="9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by optimizing depth and learning rate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57C36A-0311-DB03-35E9-BE7265C159B9}"/>
              </a:ext>
            </a:extLst>
          </p:cNvPr>
          <p:cNvSpPr/>
          <p:nvPr/>
        </p:nvSpPr>
        <p:spPr>
          <a:xfrm>
            <a:off x="6204386" y="1438765"/>
            <a:ext cx="2013357" cy="16088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41D817-2B29-0222-55E3-9A7FDDEF0878}"/>
              </a:ext>
            </a:extLst>
          </p:cNvPr>
          <p:cNvSpPr/>
          <p:nvPr/>
        </p:nvSpPr>
        <p:spPr>
          <a:xfrm>
            <a:off x="6204386" y="1438766"/>
            <a:ext cx="2013357" cy="285274"/>
          </a:xfrm>
          <a:prstGeom prst="rect">
            <a:avLst/>
          </a:prstGeom>
          <a:solidFill>
            <a:srgbClr val="F1E7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Tuned Random Forest</a:t>
            </a:r>
            <a:endParaRPr lang="en-US" sz="10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C2D322-8AE7-B047-E9D7-CF16062392CB}"/>
              </a:ext>
            </a:extLst>
          </p:cNvPr>
          <p:cNvSpPr txBox="1"/>
          <p:nvPr/>
        </p:nvSpPr>
        <p:spPr>
          <a:xfrm>
            <a:off x="6204386" y="1724039"/>
            <a:ext cx="20133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Performs well on </a:t>
            </a:r>
            <a:r>
              <a:rPr lang="en-US" sz="9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imbalanced data</a:t>
            </a:r>
            <a:r>
              <a:rPr lang="en-US" sz="9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where fires are rare but impactful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Detects fires </a:t>
            </a:r>
            <a:r>
              <a:rPr lang="en-US" sz="9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with high recall (83%)</a:t>
            </a:r>
            <a:r>
              <a:rPr lang="en-US" sz="9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ideal for </a:t>
            </a:r>
            <a:r>
              <a:rPr lang="en-US" sz="9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early warning systems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Tuning</a:t>
            </a:r>
            <a:r>
              <a:rPr lang="en-US" sz="9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enabled Random Forest model in </a:t>
            </a:r>
            <a:r>
              <a:rPr lang="en-US" sz="9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capturing patterns </a:t>
            </a:r>
            <a:r>
              <a:rPr lang="en-US" sz="9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across varying environmental conditions.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" name="Picture 27" descr="A gold trophy with a star&#10;&#10;Description automatically generated">
            <a:extLst>
              <a:ext uri="{FF2B5EF4-FFF2-40B4-BE49-F238E27FC236}">
                <a16:creationId xmlns:a16="http://schemas.microsoft.com/office/drawing/2014/main" id="{6552E5A0-FECD-61EC-0F9C-7F617C3F7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238550"/>
            <a:ext cx="450209" cy="45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792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1FA33-EC18-29F6-5E8E-11D3B0698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Results </a:t>
            </a:r>
          </a:p>
        </p:txBody>
      </p:sp>
      <p:pic>
        <p:nvPicPr>
          <p:cNvPr id="6" name="Picture 5" descr="A graph with orange dots&#10;&#10;Description automatically generated with medium confidence">
            <a:extLst>
              <a:ext uri="{FF2B5EF4-FFF2-40B4-BE49-F238E27FC236}">
                <a16:creationId xmlns:a16="http://schemas.microsoft.com/office/drawing/2014/main" id="{A8938DD1-1A4D-DD8F-D8BE-D9C95FC8D5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890"/>
          <a:stretch/>
        </p:blipFill>
        <p:spPr>
          <a:xfrm>
            <a:off x="3716324" y="1236287"/>
            <a:ext cx="5026036" cy="3318933"/>
          </a:xfrm>
          <a:prstGeom prst="rect">
            <a:avLst/>
          </a:prstGeom>
        </p:spPr>
      </p:pic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EE83245F-F08A-CC82-8C38-488137B6ED2B}"/>
              </a:ext>
            </a:extLst>
          </p:cNvPr>
          <p:cNvSpPr txBox="1">
            <a:spLocks/>
          </p:cNvSpPr>
          <p:nvPr/>
        </p:nvSpPr>
        <p:spPr>
          <a:xfrm>
            <a:off x="720000" y="1300295"/>
            <a:ext cx="2786598" cy="3254928"/>
          </a:xfrm>
          <a:prstGeom prst="rect">
            <a:avLst/>
          </a:prstGeom>
          <a:solidFill>
            <a:srgbClr val="F1E7DC"/>
          </a:solidFill>
        </p:spPr>
        <p:txBody>
          <a:bodyPr anchor="t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10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Environmental drivers such as </a:t>
            </a:r>
            <a:r>
              <a:rPr lang="en-US" sz="1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temperature (T2M)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 </a:t>
            </a:r>
            <a:r>
              <a:rPr lang="en-US" sz="1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NDVI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and </a:t>
            </a:r>
            <a:r>
              <a:rPr lang="en-US" sz="1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precipitation (PRECTOTCORR)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were consistently ranked as the most influential factors in wildfire prediction</a:t>
            </a:r>
          </a:p>
          <a:p>
            <a:endParaRPr lang="en-US" sz="10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Top fire-prone regions predicted with probabilities </a:t>
            </a:r>
            <a:r>
              <a:rPr lang="en-US" sz="1000" b="1" dirty="0">
                <a:latin typeface="Calibri" panose="020F0502020204030204" pitchFamily="34" charset="0"/>
                <a:cs typeface="Calibri" panose="020F0502020204030204" pitchFamily="34" charset="0"/>
              </a:rPr>
              <a:t>ranging from 0.58 to 0.71, 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Average risk in flagged zones: </a:t>
            </a:r>
            <a:r>
              <a:rPr lang="en-US" sz="1000" b="1" dirty="0">
                <a:latin typeface="Calibri" panose="020F0502020204030204" pitchFamily="34" charset="0"/>
                <a:cs typeface="Calibri" panose="020F0502020204030204" pitchFamily="34" charset="0"/>
              </a:rPr>
              <a:t>~62.4%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9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Applied feature scaling and engineered cyclic features (</a:t>
            </a:r>
            <a:r>
              <a:rPr lang="en-US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month_sin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 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month_cos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), resulting in a </a:t>
            </a:r>
            <a:r>
              <a:rPr lang="en-US" sz="1000" b="1" i="0" u="none" strike="noStrike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~2% 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gain in F1 score by improving seasonality capture in wildfire patterns</a:t>
            </a:r>
          </a:p>
          <a:p>
            <a:endParaRPr lang="en-US" sz="10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Fire hotspots accurately aligned with historical burn records in regions like </a:t>
            </a:r>
            <a:r>
              <a:rPr lang="en-US" sz="1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Sierra Nevada and Los Padres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612764"/>
      </p:ext>
    </p:extLst>
  </p:cSld>
  <p:clrMapOvr>
    <a:masterClrMapping/>
  </p:clrMapOvr>
</p:sld>
</file>

<file path=ppt/theme/theme1.xml><?xml version="1.0" encoding="utf-8"?>
<a:theme xmlns:a="http://schemas.openxmlformats.org/drawingml/2006/main" name="Social Market Economy Proposal by Slidesgo">
  <a:themeElements>
    <a:clrScheme name="Simple Light">
      <a:dk1>
        <a:srgbClr val="191919"/>
      </a:dk1>
      <a:lt1>
        <a:srgbClr val="FFFFFF"/>
      </a:lt1>
      <a:dk2>
        <a:srgbClr val="EDEDE9"/>
      </a:dk2>
      <a:lt2>
        <a:srgbClr val="D6CCC2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678</Words>
  <Application>Microsoft Macintosh PowerPoint</Application>
  <PresentationFormat>On-screen Show (16:9)</PresentationFormat>
  <Paragraphs>141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Calibri</vt:lpstr>
      <vt:lpstr>Wingdings</vt:lpstr>
      <vt:lpstr>Raleway</vt:lpstr>
      <vt:lpstr>Open Sans</vt:lpstr>
      <vt:lpstr>Archivo</vt:lpstr>
      <vt:lpstr>Courier New</vt:lpstr>
      <vt:lpstr>Arial</vt:lpstr>
      <vt:lpstr>Social Market Economy Proposal by Slidesgo</vt:lpstr>
      <vt:lpstr>Group 5: Predictive Modeling for Wildfire Risk</vt:lpstr>
      <vt:lpstr>Table of Content</vt:lpstr>
      <vt:lpstr>Introduction</vt:lpstr>
      <vt:lpstr>Data Description</vt:lpstr>
      <vt:lpstr>Exploratory Data Analysis</vt:lpstr>
      <vt:lpstr>Exploratory Data Analysis</vt:lpstr>
      <vt:lpstr>Data Modeling </vt:lpstr>
      <vt:lpstr>Results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Reddy, Yashaswi Ramachandra</cp:lastModifiedBy>
  <cp:revision>4</cp:revision>
  <dcterms:modified xsi:type="dcterms:W3CDTF">2025-04-24T15:14:53Z</dcterms:modified>
</cp:coreProperties>
</file>